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19872" y="0"/>
            <a:ext cx="4069080" cy="6858000"/>
          </a:xfrm>
          <a:prstGeom prst="rect">
            <a:avLst/>
          </a:prstGeom>
          <a:solidFill>
            <a:srgbClr val="164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6920" y="731520"/>
            <a:ext cx="1097280" cy="1097280"/>
          </a:xfrm>
          <a:prstGeom prst="ellipse">
            <a:avLst/>
          </a:prstGeom>
          <a:solidFill>
            <a:srgbClr val="F07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1737360"/>
            <a:ext cx="1737360" cy="1737360"/>
          </a:xfrm>
          <a:prstGeom prst="ellipse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0" y="3108960"/>
            <a:ext cx="777240" cy="777240"/>
          </a:xfrm>
          <a:prstGeom prst="ellipse">
            <a:avLst/>
          </a:prstGeom>
          <a:solidFill>
            <a:srgbClr val="53B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0" y="4206240"/>
            <a:ext cx="1920240" cy="1920240"/>
          </a:xfrm>
          <a:prstGeom prst="ellipse">
            <a:avLst/>
          </a:prstGeom>
          <a:solidFill>
            <a:srgbClr val="1E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"/>
            <a:ext cx="6949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 i="0">
                <a:solidFill>
                  <a:srgbClr val="77DAD0"/>
                </a:solidFill>
                <a:latin typeface="Aptos"/>
              </a:defRPr>
            </a:pPr>
            <a:r>
              <a:t>MACHINE LEARNING MINI-PROJECT  /  PROBLEM 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17320"/>
            <a:ext cx="713232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500" b="1" i="0">
                <a:solidFill>
                  <a:srgbClr val="FFFFFF"/>
                </a:solidFill>
                <a:latin typeface="Aptos"/>
              </a:defRPr>
            </a:pPr>
            <a:r>
              <a:t>Predicting Coral Reef</a:t>
            </a:r>
            <a:br/>
            <a:r>
              <a:t>Regimes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69951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100" b="1" i="0">
                <a:solidFill>
                  <a:srgbClr val="B2DEDE"/>
                </a:solidFill>
                <a:latin typeface="Aptos"/>
              </a:defRPr>
            </a:pPr>
            <a:r>
              <a:t>from human and natural influences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749039"/>
            <a:ext cx="6858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Aptos"/>
              </a:defRPr>
            </a:pPr>
            <a:r>
              <a:t>A leakage-aware, four-class classification study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" y="4498848"/>
            <a:ext cx="6583680" cy="18288"/>
          </a:xfrm>
          <a:prstGeom prst="rect">
            <a:avLst/>
          </a:prstGeom>
          <a:solidFill>
            <a:srgbClr val="4C6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4736592"/>
            <a:ext cx="667512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 i="0">
                <a:solidFill>
                  <a:srgbClr val="E3EDEE"/>
                </a:solidFill>
                <a:latin typeface="Aptos"/>
              </a:defRPr>
            </a:pPr>
            <a:r>
              <a:t>Team  |  SHREE VERDHAN M  |  SUHAS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6291072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 i="0">
                <a:solidFill>
                  <a:srgbClr val="A1C3C7"/>
                </a:solidFill>
                <a:latin typeface="Aptos"/>
              </a:defRPr>
            </a:pPr>
            <a:r>
              <a:t>UE24CS352A  |  PES University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777240"/>
            <a:ext cx="3154680" cy="1097280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777240"/>
            <a:ext cx="64008" cy="1097280"/>
          </a:xfrm>
          <a:prstGeom prst="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2" y="886968"/>
            <a:ext cx="2880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 i="0">
                <a:solidFill>
                  <a:srgbClr val="60757D"/>
                </a:solidFill>
                <a:latin typeface="Aptos"/>
              </a:defRPr>
            </a:pPr>
            <a:r>
              <a:t>OBSERVED SITES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1115568"/>
            <a:ext cx="2880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 i="0">
                <a:solidFill>
                  <a:srgbClr val="102F3A"/>
                </a:solidFill>
                <a:latin typeface="Aptos"/>
              </a:defRPr>
            </a:pPr>
            <a:r>
              <a:t>620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1618487"/>
            <a:ext cx="2880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60757D"/>
                </a:solidFill>
                <a:latin typeface="Aptos"/>
              </a:defRPr>
            </a:pPr>
            <a:r>
              <a:t>Hawaiian reef dataset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2148840"/>
            <a:ext cx="3154680" cy="1097280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66760" y="2148840"/>
            <a:ext cx="64008" cy="1097280"/>
          </a:xfrm>
          <a:prstGeom prst="rect">
            <a:avLst/>
          </a:prstGeom>
          <a:solidFill>
            <a:srgbClr val="F07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1352" y="2258568"/>
            <a:ext cx="2880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 i="0">
                <a:solidFill>
                  <a:srgbClr val="60757D"/>
                </a:solidFill>
                <a:latin typeface="Aptos"/>
              </a:defRPr>
            </a:pPr>
            <a:r>
              <a:t>INPUT PREDICTORS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2" y="2487168"/>
            <a:ext cx="2880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 i="0">
                <a:solidFill>
                  <a:srgbClr val="102F3A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2990087"/>
            <a:ext cx="2880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60757D"/>
                </a:solidFill>
                <a:latin typeface="Aptos"/>
              </a:defRPr>
            </a:pPr>
            <a:r>
              <a:t>Human + biophysical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520440"/>
            <a:ext cx="3154680" cy="1097280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6760" y="3520440"/>
            <a:ext cx="64008" cy="1097280"/>
          </a:xfrm>
          <a:prstGeom prst="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31352" y="3630168"/>
            <a:ext cx="2880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 i="0">
                <a:solidFill>
                  <a:srgbClr val="60757D"/>
                </a:solidFill>
                <a:latin typeface="Aptos"/>
              </a:defRPr>
            </a:pPr>
            <a:r>
              <a:t>REGIME LABELS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352" y="3858768"/>
            <a:ext cx="2880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 i="0">
                <a:solidFill>
                  <a:srgbClr val="102F3A"/>
                </a:solidFill>
                <a:latin typeface="Aptos"/>
              </a:defRPr>
            </a:pPr>
            <a:r>
              <a:t>1 / 2 / 3 /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2" y="4361688"/>
            <a:ext cx="2880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60757D"/>
                </a:solidFill>
                <a:latin typeface="Aptos"/>
              </a:defRPr>
            </a:pPr>
            <a:r>
              <a:t>Nominal classes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5074920"/>
            <a:ext cx="29718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 i="0">
                <a:solidFill>
                  <a:srgbClr val="DBE7E8"/>
                </a:solidFill>
                <a:latin typeface="Aptos"/>
              </a:defRPr>
            </a:pPr>
            <a:r>
              <a:t>Prediction is not causation.</a:t>
            </a:r>
            <a:br/>
            <a:r>
              <a:t>Generalization beyond Hawaii is untested.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 i="0">
                <a:solidFill>
                  <a:srgbClr val="1B8A8F"/>
                </a:solidFill>
                <a:latin typeface="Aptos"/>
              </a:defRPr>
            </a:pPr>
            <a:r>
              <a:t>01  /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 i="0">
                <a:solidFill>
                  <a:srgbClr val="102F3A"/>
                </a:solidFill>
                <a:latin typeface="Aptos"/>
              </a:defRPr>
            </a:pPr>
            <a:r>
              <a:t>Can observed pressures classify a reef regime?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61872"/>
            <a:ext cx="11109960" cy="16459"/>
          </a:xfrm>
          <a:prstGeom prst="rect">
            <a:avLst/>
          </a:prstGeom>
          <a:solidFill>
            <a:srgbClr val="DC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60757D"/>
                </a:solidFill>
                <a:latin typeface="Aptos"/>
              </a:defRPr>
            </a:pPr>
            <a:r>
              <a:t>UE24CS352A  |  Machine Learning Mini-Project  |  Problem 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 i="0">
                <a:solidFill>
                  <a:srgbClr val="60757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6675120" cy="2011680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6126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 i="0">
                <a:solidFill>
                  <a:srgbClr val="1B8A8F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608076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200" b="1" i="0">
                <a:solidFill>
                  <a:srgbClr val="102F3A"/>
                </a:solidFill>
                <a:latin typeface="Aptos"/>
              </a:defRPr>
            </a:pPr>
            <a:r>
              <a:t>Can 20 anthropogenic and biophysical predictors classify a Hawaiian reef site into its observed regime label?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6537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 i="0">
                <a:solidFill>
                  <a:srgbClr val="60757D"/>
                </a:solidFill>
                <a:latin typeface="Aptos"/>
              </a:defRPr>
            </a:pPr>
            <a:r>
              <a:t>Four target classes in the supplied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15968"/>
            <a:ext cx="1261872" cy="914400"/>
          </a:xfrm>
          <a:prstGeom prst="roundRect">
            <a:avLst/>
          </a:prstGeom>
          <a:solidFill>
            <a:srgbClr val="E1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443984"/>
            <a:ext cx="1261872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700" b="1" i="0">
                <a:solidFill>
                  <a:srgbClr val="1B8A8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13432" y="4315968"/>
            <a:ext cx="1261872" cy="914400"/>
          </a:xfrm>
          <a:prstGeom prst="roundRect">
            <a:avLst/>
          </a:prstGeom>
          <a:solidFill>
            <a:srgbClr val="E1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13432" y="4443984"/>
            <a:ext cx="1261872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700" b="1" i="0">
                <a:solidFill>
                  <a:srgbClr val="1B8A8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9624" y="4315968"/>
            <a:ext cx="1261872" cy="914400"/>
          </a:xfrm>
          <a:prstGeom prst="roundRect">
            <a:avLst/>
          </a:prstGeom>
          <a:solidFill>
            <a:srgbClr val="E1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9624" y="4443984"/>
            <a:ext cx="1261872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700" b="1" i="0">
                <a:solidFill>
                  <a:srgbClr val="1B8A8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85816" y="4315968"/>
            <a:ext cx="1261872" cy="914400"/>
          </a:xfrm>
          <a:prstGeom prst="roundRect">
            <a:avLst/>
          </a:prstGeom>
          <a:solidFill>
            <a:srgbClr val="FF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85816" y="4443984"/>
            <a:ext cx="1261872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700" b="1" i="0">
                <a:solidFill>
                  <a:srgbClr val="F0786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62672" y="1572768"/>
            <a:ext cx="3822191" cy="4206240"/>
          </a:xfrm>
          <a:prstGeom prst="roundRect">
            <a:avLst/>
          </a:prstGeom>
          <a:solidFill>
            <a:srgbClr val="10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1847088"/>
            <a:ext cx="3200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 i="0">
                <a:solidFill>
                  <a:srgbClr val="77DAD0"/>
                </a:solidFill>
                <a:latin typeface="Aptos"/>
              </a:defRPr>
            </a:pPr>
            <a:r>
              <a:t>SCOPE BOUNDARIES</a:t>
            </a:r>
          </a:p>
        </p:txBody>
      </p:sp>
      <p:sp>
        <p:nvSpPr>
          <p:cNvPr id="22" name="Oval 21"/>
          <p:cNvSpPr/>
          <p:nvPr/>
        </p:nvSpPr>
        <p:spPr>
          <a:xfrm>
            <a:off x="7973568" y="2478024"/>
            <a:ext cx="82296" cy="82296"/>
          </a:xfrm>
          <a:prstGeom prst="ellipse">
            <a:avLst/>
          </a:prstGeom>
          <a:solidFill>
            <a:srgbClr val="F07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8" y="2359152"/>
            <a:ext cx="2944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Predicts the dataset label from observed predictors.</a:t>
            </a:r>
          </a:p>
        </p:txBody>
      </p:sp>
      <p:sp>
        <p:nvSpPr>
          <p:cNvPr id="24" name="Oval 23"/>
          <p:cNvSpPr/>
          <p:nvPr/>
        </p:nvSpPr>
        <p:spPr>
          <a:xfrm>
            <a:off x="7973568" y="3364991"/>
            <a:ext cx="82296" cy="82296"/>
          </a:xfrm>
          <a:prstGeom prst="ellipse">
            <a:avLst/>
          </a:prstGeom>
          <a:solidFill>
            <a:srgbClr val="F07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3246120"/>
            <a:ext cx="2944368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Does not estimate causal effects.</a:t>
            </a:r>
          </a:p>
        </p:txBody>
      </p:sp>
      <p:sp>
        <p:nvSpPr>
          <p:cNvPr id="26" name="Oval 25"/>
          <p:cNvSpPr/>
          <p:nvPr/>
        </p:nvSpPr>
        <p:spPr>
          <a:xfrm>
            <a:off x="7973568" y="4215384"/>
            <a:ext cx="82296" cy="82296"/>
          </a:xfrm>
          <a:prstGeom prst="ellipse">
            <a:avLst/>
          </a:prstGeom>
          <a:solidFill>
            <a:srgbClr val="F07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6448" y="4096512"/>
            <a:ext cx="2944368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Not a future-time forecast.</a:t>
            </a:r>
          </a:p>
        </p:txBody>
      </p:sp>
      <p:sp>
        <p:nvSpPr>
          <p:cNvPr id="28" name="Oval 27"/>
          <p:cNvSpPr/>
          <p:nvPr/>
        </p:nvSpPr>
        <p:spPr>
          <a:xfrm>
            <a:off x="7973568" y="5056632"/>
            <a:ext cx="82296" cy="82296"/>
          </a:xfrm>
          <a:prstGeom prst="ellipse">
            <a:avLst/>
          </a:prstGeom>
          <a:solidFill>
            <a:srgbClr val="F07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4937760"/>
            <a:ext cx="2944368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Regime 4 is absent in the source subset.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5650992"/>
            <a:ext cx="6492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 i="0">
                <a:solidFill>
                  <a:srgbClr val="60757D"/>
                </a:solidFill>
                <a:latin typeface="Aptos"/>
              </a:defRPr>
            </a:pPr>
            <a:r>
              <a:t>Objective: compare model families, inspect class-wise errors and report limitations.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 i="0">
                <a:solidFill>
                  <a:srgbClr val="1B8A8F"/>
                </a:solidFill>
                <a:latin typeface="Aptos"/>
              </a:defRPr>
            </a:pPr>
            <a:r>
              <a:t>02  / 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 i="0">
                <a:solidFill>
                  <a:srgbClr val="102F3A"/>
                </a:solidFill>
                <a:latin typeface="Aptos"/>
              </a:defRPr>
            </a:pPr>
            <a:r>
              <a:t>Small dataset, explicit feature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61872"/>
            <a:ext cx="11109960" cy="16459"/>
          </a:xfrm>
          <a:prstGeom prst="rect">
            <a:avLst/>
          </a:prstGeom>
          <a:solidFill>
            <a:srgbClr val="DC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60757D"/>
                </a:solidFill>
                <a:latin typeface="Aptos"/>
              </a:defRPr>
            </a:pPr>
            <a:r>
              <a:t>UE24CS352A  |  Machine Learning Mini-Project  |  Problem 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 i="0">
                <a:solidFill>
                  <a:srgbClr val="60757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2487168" cy="1005840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54480"/>
            <a:ext cx="64008" cy="1005840"/>
          </a:xfrm>
          <a:prstGeom prst="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664207"/>
            <a:ext cx="221284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 i="0">
                <a:solidFill>
                  <a:srgbClr val="60757D"/>
                </a:solidFill>
                <a:latin typeface="Aptos"/>
              </a:defRPr>
            </a:pPr>
            <a:r>
              <a:t>SITES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892807"/>
            <a:ext cx="221284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 i="0">
                <a:solidFill>
                  <a:srgbClr val="102F3A"/>
                </a:solidFill>
                <a:latin typeface="Aptos"/>
              </a:defRPr>
            </a:pPr>
            <a:r>
              <a:t>620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304287"/>
            <a:ext cx="22128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60757D"/>
                </a:solidFill>
                <a:latin typeface="Aptos"/>
              </a:defRPr>
            </a:pPr>
            <a:r>
              <a:t>All observations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554480"/>
            <a:ext cx="2487168" cy="1005840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1554480"/>
            <a:ext cx="64008" cy="1005840"/>
          </a:xfrm>
          <a:prstGeom prst="rect">
            <a:avLst/>
          </a:prstGeom>
          <a:solidFill>
            <a:srgbClr val="F07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664207"/>
            <a:ext cx="221284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 i="0">
                <a:solidFill>
                  <a:srgbClr val="60757D"/>
                </a:solidFill>
                <a:latin typeface="Aptos"/>
              </a:defRPr>
            </a:pPr>
            <a:r>
              <a:t>PREDICTORS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892807"/>
            <a:ext cx="221284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 i="0">
                <a:solidFill>
                  <a:srgbClr val="102F3A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304287"/>
            <a:ext cx="22128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60757D"/>
                </a:solidFill>
                <a:latin typeface="Aptos"/>
              </a:defRPr>
            </a:pPr>
            <a:r>
              <a:t>Effluent through Depth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61888" y="1554480"/>
            <a:ext cx="2487168" cy="1005840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61888" y="1554480"/>
            <a:ext cx="64008" cy="1005840"/>
          </a:xfrm>
          <a:prstGeom prst="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9" y="1664207"/>
            <a:ext cx="221284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 i="0">
                <a:solidFill>
                  <a:srgbClr val="60757D"/>
                </a:solidFill>
                <a:latin typeface="Aptos"/>
              </a:defRPr>
            </a:pPr>
            <a:r>
              <a:t>TRAINING 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9" y="1892807"/>
            <a:ext cx="221284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 i="0">
                <a:solidFill>
                  <a:srgbClr val="102F3A"/>
                </a:solidFill>
                <a:latin typeface="Aptos"/>
              </a:defRPr>
            </a:pPr>
            <a:r>
              <a:t>496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9" y="2304287"/>
            <a:ext cx="22128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60757D"/>
                </a:solidFill>
                <a:latin typeface="Aptos"/>
              </a:defRPr>
            </a:pPr>
            <a:r>
              <a:t>80% / stratified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13648" y="1554480"/>
            <a:ext cx="2487168" cy="1005840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13648" y="1554480"/>
            <a:ext cx="64008" cy="1005840"/>
          </a:xfrm>
          <a:prstGeom prst="rect">
            <a:avLst/>
          </a:prstGeom>
          <a:solidFill>
            <a:srgbClr val="F07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664207"/>
            <a:ext cx="221284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 i="0">
                <a:solidFill>
                  <a:srgbClr val="60757D"/>
                </a:solidFill>
                <a:latin typeface="Aptos"/>
              </a:defRPr>
            </a:pPr>
            <a:r>
              <a:t>HELD-OUT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1892807"/>
            <a:ext cx="221284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 i="0">
                <a:solidFill>
                  <a:srgbClr val="102F3A"/>
                </a:solidFill>
                <a:latin typeface="Aptos"/>
              </a:defRPr>
            </a:pPr>
            <a:r>
              <a:t>124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304287"/>
            <a:ext cx="22128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60757D"/>
                </a:solidFill>
                <a:latin typeface="Aptos"/>
              </a:defRPr>
            </a:pPr>
            <a:r>
              <a:t>20% / one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834640"/>
            <a:ext cx="49377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 i="0">
                <a:solidFill>
                  <a:srgbClr val="1B8A8F"/>
                </a:solidFill>
                <a:latin typeface="Aptos"/>
              </a:defRPr>
            </a:pPr>
            <a:r>
              <a:t>CLASS DISTRIBUTION</a:t>
            </a:r>
          </a:p>
        </p:txBody>
      </p:sp>
      <p:pic>
        <p:nvPicPr>
          <p:cNvPr id="29" name="Picture 28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127248"/>
            <a:ext cx="4800600" cy="251460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5650992" y="2999232"/>
            <a:ext cx="5669280" cy="2697480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61888" y="3246120"/>
            <a:ext cx="49377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 i="0">
                <a:solidFill>
                  <a:srgbClr val="1B8A8F"/>
                </a:solidFill>
                <a:latin typeface="Aptos"/>
              </a:defRPr>
            </a:pPr>
            <a:r>
              <a:t>DATA QUALITY &amp; LEAKAGE SAFEGUARDS</a:t>
            </a:r>
          </a:p>
        </p:txBody>
      </p:sp>
      <p:sp>
        <p:nvSpPr>
          <p:cNvPr id="32" name="Oval 31"/>
          <p:cNvSpPr/>
          <p:nvPr/>
        </p:nvSpPr>
        <p:spPr>
          <a:xfrm>
            <a:off x="5961888" y="3813048"/>
            <a:ext cx="82296" cy="82296"/>
          </a:xfrm>
          <a:prstGeom prst="ellipse">
            <a:avLst/>
          </a:prstGeom>
          <a:solidFill>
            <a:srgbClr val="F07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4768" y="3694176"/>
            <a:ext cx="4800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 i="0">
                <a:solidFill>
                  <a:srgbClr val="22363E"/>
                </a:solidFill>
                <a:latin typeface="Aptos"/>
              </a:defRPr>
            </a:pPr>
            <a:r>
              <a:t>Missing values: Complexity 113; Depth 12.</a:t>
            </a:r>
          </a:p>
        </p:txBody>
      </p:sp>
      <p:sp>
        <p:nvSpPr>
          <p:cNvPr id="34" name="Oval 33"/>
          <p:cNvSpPr/>
          <p:nvPr/>
        </p:nvSpPr>
        <p:spPr>
          <a:xfrm>
            <a:off x="5961888" y="4434840"/>
            <a:ext cx="82296" cy="82296"/>
          </a:xfrm>
          <a:prstGeom prst="ellipse">
            <a:avLst/>
          </a:prstGeom>
          <a:solidFill>
            <a:srgbClr val="F07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4768" y="4315968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 i="0">
                <a:solidFill>
                  <a:srgbClr val="22363E"/>
                </a:solidFill>
                <a:latin typeface="Aptos"/>
              </a:defRPr>
            </a:pPr>
            <a:r>
              <a:t>Median imputation is fitted inside each model pipeline.</a:t>
            </a:r>
          </a:p>
        </p:txBody>
      </p:sp>
      <p:sp>
        <p:nvSpPr>
          <p:cNvPr id="36" name="Oval 35"/>
          <p:cNvSpPr/>
          <p:nvPr/>
        </p:nvSpPr>
        <p:spPr>
          <a:xfrm>
            <a:off x="5961888" y="5129784"/>
            <a:ext cx="82296" cy="82296"/>
          </a:xfrm>
          <a:prstGeom prst="ellipse">
            <a:avLst/>
          </a:prstGeom>
          <a:solidFill>
            <a:srgbClr val="F07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4768" y="5010912"/>
            <a:ext cx="480060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 i="0">
                <a:solidFill>
                  <a:srgbClr val="22363E"/>
                </a:solidFill>
                <a:latin typeface="Aptos"/>
              </a:defRPr>
            </a:pPr>
            <a:r>
              <a:t>Regime one-hot columns, IDs, coordinates and ecological response columns are excluded from inputs.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870448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 i="0">
                <a:solidFill>
                  <a:srgbClr val="60757D"/>
                </a:solidFill>
                <a:latin typeface="Aptos"/>
              </a:defRPr>
            </a:pPr>
            <a:r>
              <a:t>Split: stratified 80/20, random_state = 42. Labels are nominal: 1, 2, 3 and 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 i="0">
                <a:solidFill>
                  <a:srgbClr val="1B8A8F"/>
                </a:solidFill>
                <a:latin typeface="Aptos"/>
              </a:defRPr>
            </a:pPr>
            <a:r>
              <a:t>03  / 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 i="0">
                <a:solidFill>
                  <a:srgbClr val="102F3A"/>
                </a:solidFill>
                <a:latin typeface="Aptos"/>
              </a:defRPr>
            </a:pPr>
            <a:r>
              <a:t>A controlled evaluation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61872"/>
            <a:ext cx="11109960" cy="16459"/>
          </a:xfrm>
          <a:prstGeom prst="rect">
            <a:avLst/>
          </a:prstGeom>
          <a:solidFill>
            <a:srgbClr val="DC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60757D"/>
                </a:solidFill>
                <a:latin typeface="Aptos"/>
              </a:defRPr>
            </a:pPr>
            <a:r>
              <a:t>UE24CS352A  |  Machine Learning Mini-Project  |  Problem 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 i="0">
                <a:solidFill>
                  <a:srgbClr val="60757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1828800" cy="1600200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2011680"/>
            <a:ext cx="329184" cy="329184"/>
          </a:xfrm>
          <a:prstGeom prst="ellipse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011680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487168"/>
            <a:ext cx="1554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 i="0">
                <a:solidFill>
                  <a:srgbClr val="102F3A"/>
                </a:solidFill>
                <a:latin typeface="Aptos"/>
              </a:defRPr>
            </a:pPr>
            <a:r>
              <a:t>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852928"/>
            <a:ext cx="157276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 i="0">
                <a:solidFill>
                  <a:srgbClr val="60757D"/>
                </a:solidFill>
                <a:latin typeface="Aptos"/>
              </a:defRPr>
            </a:pPr>
            <a:r>
              <a:t>Validate rows, labels</a:t>
            </a:r>
            <a:br/>
            <a:r>
              <a:t>and predictor schema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2578608"/>
            <a:ext cx="310896" cy="54864"/>
          </a:xfrm>
          <a:prstGeom prst="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43200" y="2487168"/>
            <a:ext cx="146304" cy="228600"/>
          </a:xfrm>
          <a:prstGeom prst="chevron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07792" y="1874519"/>
            <a:ext cx="1828800" cy="1600200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4096" y="2011680"/>
            <a:ext cx="329184" cy="329184"/>
          </a:xfrm>
          <a:prstGeom prst="ellipse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2011680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2487168"/>
            <a:ext cx="1554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 i="0">
                <a:solidFill>
                  <a:srgbClr val="102F3A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4096" y="2852928"/>
            <a:ext cx="157276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 i="0">
                <a:solidFill>
                  <a:srgbClr val="60757D"/>
                </a:solidFill>
                <a:latin typeface="Aptos"/>
              </a:defRPr>
            </a:pPr>
            <a:r>
              <a:t>Stratified 80/20</a:t>
            </a:r>
            <a:br/>
            <a:r>
              <a:t>train / 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82312" y="2578608"/>
            <a:ext cx="310896" cy="54864"/>
          </a:xfrm>
          <a:prstGeom prst="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ron 20"/>
          <p:cNvSpPr/>
          <p:nvPr/>
        </p:nvSpPr>
        <p:spPr>
          <a:xfrm>
            <a:off x="5010912" y="2487168"/>
            <a:ext cx="146304" cy="228600"/>
          </a:xfrm>
          <a:prstGeom prst="chevron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75504" y="1874519"/>
            <a:ext cx="1828800" cy="1600200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21808" y="2011680"/>
            <a:ext cx="329184" cy="329184"/>
          </a:xfrm>
          <a:prstGeom prst="ellipse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21808" y="2011680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2487168"/>
            <a:ext cx="1554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 i="0">
                <a:solidFill>
                  <a:srgbClr val="102F3A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2852928"/>
            <a:ext cx="157276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 i="0">
                <a:solidFill>
                  <a:srgbClr val="60757D"/>
                </a:solidFill>
                <a:latin typeface="Aptos"/>
              </a:defRPr>
            </a:pPr>
            <a:r>
              <a:t>5-fold stratified CV</a:t>
            </a:r>
            <a:br/>
            <a:r>
              <a:t>on training 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0024" y="2578608"/>
            <a:ext cx="310896" cy="54864"/>
          </a:xfrm>
          <a:prstGeom prst="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7278624" y="2487168"/>
            <a:ext cx="146304" cy="228600"/>
          </a:xfrm>
          <a:prstGeom prst="chevron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43216" y="1874519"/>
            <a:ext cx="1828800" cy="1600200"/>
          </a:xfrm>
          <a:prstGeom prst="roundRect">
            <a:avLst/>
          </a:prstGeom>
          <a:solidFill>
            <a:srgbClr val="10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89520" y="2011680"/>
            <a:ext cx="329184" cy="329184"/>
          </a:xfrm>
          <a:prstGeom prst="ellipse">
            <a:avLst/>
          </a:prstGeom>
          <a:solidFill>
            <a:srgbClr val="F07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2011680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2487168"/>
            <a:ext cx="1554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852928"/>
            <a:ext cx="157276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 i="0">
                <a:solidFill>
                  <a:srgbClr val="E2EFEF"/>
                </a:solidFill>
                <a:latin typeface="Aptos"/>
              </a:defRPr>
            </a:pPr>
            <a:r>
              <a:t>Highest mean</a:t>
            </a:r>
            <a:br/>
            <a:r>
              <a:t>CV macro-F1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17736" y="2578608"/>
            <a:ext cx="310896" cy="54864"/>
          </a:xfrm>
          <a:prstGeom prst="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evron 34"/>
          <p:cNvSpPr/>
          <p:nvPr/>
        </p:nvSpPr>
        <p:spPr>
          <a:xfrm>
            <a:off x="9546336" y="2487168"/>
            <a:ext cx="146304" cy="228600"/>
          </a:xfrm>
          <a:prstGeom prst="chevron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10928" y="1874519"/>
            <a:ext cx="1828800" cy="1600200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857232" y="2011680"/>
            <a:ext cx="329184" cy="329184"/>
          </a:xfrm>
          <a:prstGeom prst="ellipse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7232" y="2011680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57232" y="2487168"/>
            <a:ext cx="1554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 i="0">
                <a:solidFill>
                  <a:srgbClr val="102F3A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57232" y="2852928"/>
            <a:ext cx="157276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 i="0">
                <a:solidFill>
                  <a:srgbClr val="60757D"/>
                </a:solidFill>
                <a:latin typeface="Aptos"/>
              </a:defRPr>
            </a:pPr>
            <a:r>
              <a:t>One held-out test</a:t>
            </a:r>
            <a:br/>
            <a:r>
              <a:t>evaluation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041648"/>
            <a:ext cx="4983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 i="0">
                <a:solidFill>
                  <a:srgbClr val="1B8A8F"/>
                </a:solidFill>
                <a:latin typeface="Aptos"/>
              </a:defRPr>
            </a:pPr>
            <a:r>
              <a:t>CANDIDATE MODELS</a:t>
            </a:r>
          </a:p>
        </p:txBody>
      </p:sp>
      <p:sp>
        <p:nvSpPr>
          <p:cNvPr id="42" name="Oval 41"/>
          <p:cNvSpPr/>
          <p:nvPr/>
        </p:nvSpPr>
        <p:spPr>
          <a:xfrm>
            <a:off x="768096" y="4480560"/>
            <a:ext cx="109728" cy="109728"/>
          </a:xfrm>
          <a:prstGeom prst="ellipse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" y="4425696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 i="0">
                <a:solidFill>
                  <a:srgbClr val="22363E"/>
                </a:solidFill>
                <a:latin typeface="Aptos"/>
              </a:defRPr>
            </a:pPr>
            <a:r>
              <a:t>Most-frequent baseline</a:t>
            </a:r>
          </a:p>
        </p:txBody>
      </p:sp>
      <p:sp>
        <p:nvSpPr>
          <p:cNvPr id="44" name="Oval 43"/>
          <p:cNvSpPr/>
          <p:nvPr/>
        </p:nvSpPr>
        <p:spPr>
          <a:xfrm>
            <a:off x="3438144" y="4480560"/>
            <a:ext cx="109728" cy="109728"/>
          </a:xfrm>
          <a:prstGeom prst="ellipse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39312" y="4425696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 i="0">
                <a:solidFill>
                  <a:srgbClr val="22363E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46" name="Oval 45"/>
          <p:cNvSpPr/>
          <p:nvPr/>
        </p:nvSpPr>
        <p:spPr>
          <a:xfrm>
            <a:off x="768096" y="4956048"/>
            <a:ext cx="109728" cy="109728"/>
          </a:xfrm>
          <a:prstGeom prst="ellipse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9264" y="4901184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 i="0">
                <a:solidFill>
                  <a:srgbClr val="22363E"/>
                </a:solidFill>
                <a:latin typeface="Aptos"/>
              </a:defRPr>
            </a:pPr>
            <a:r>
              <a:t>RBF SVM</a:t>
            </a:r>
          </a:p>
        </p:txBody>
      </p:sp>
      <p:sp>
        <p:nvSpPr>
          <p:cNvPr id="48" name="Oval 47"/>
          <p:cNvSpPr/>
          <p:nvPr/>
        </p:nvSpPr>
        <p:spPr>
          <a:xfrm>
            <a:off x="3438144" y="4956048"/>
            <a:ext cx="109728" cy="109728"/>
          </a:xfrm>
          <a:prstGeom prst="ellipse">
            <a:avLst/>
          </a:prstGeom>
          <a:solidFill>
            <a:srgbClr val="F07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39312" y="4901184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 i="0">
                <a:solidFill>
                  <a:srgbClr val="22363E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50" name="Oval 49"/>
          <p:cNvSpPr/>
          <p:nvPr/>
        </p:nvSpPr>
        <p:spPr>
          <a:xfrm>
            <a:off x="768096" y="5431536"/>
            <a:ext cx="109728" cy="109728"/>
          </a:xfrm>
          <a:prstGeom prst="ellipse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" y="5376672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 i="0">
                <a:solidFill>
                  <a:srgbClr val="22363E"/>
                </a:solidFill>
                <a:latin typeface="Aptos"/>
              </a:defRPr>
            </a:pPr>
            <a:r>
              <a:t>Gradient Boosting</a:t>
            </a:r>
          </a:p>
        </p:txBody>
      </p:sp>
      <p:sp>
        <p:nvSpPr>
          <p:cNvPr id="52" name="Oval 51"/>
          <p:cNvSpPr/>
          <p:nvPr/>
        </p:nvSpPr>
        <p:spPr>
          <a:xfrm>
            <a:off x="3438144" y="5431536"/>
            <a:ext cx="109728" cy="109728"/>
          </a:xfrm>
          <a:prstGeom prst="ellipse">
            <a:avLst/>
          </a:prstGeom>
          <a:solidFill>
            <a:srgbClr val="F07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39312" y="5376672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 i="0">
                <a:solidFill>
                  <a:srgbClr val="22363E"/>
                </a:solidFill>
                <a:latin typeface="Aptos"/>
              </a:defRPr>
            </a:pPr>
            <a:r>
              <a:t>Random Forest + 5 interactions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92240" y="4041648"/>
            <a:ext cx="4846320" cy="1920240"/>
          </a:xfrm>
          <a:prstGeom prst="roundRect">
            <a:avLst/>
          </a:prstGeom>
          <a:solidFill>
            <a:srgbClr val="E1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93992" y="4315968"/>
            <a:ext cx="4206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 i="0">
                <a:solidFill>
                  <a:srgbClr val="1B8A8F"/>
                </a:solidFill>
                <a:latin typeface="Aptos"/>
              </a:defRPr>
            </a:pPr>
            <a:r>
              <a:t>WHY MACRO-F1?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93992" y="4709160"/>
            <a:ext cx="416052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 i="0">
                <a:solidFill>
                  <a:srgbClr val="102F3A"/>
                </a:solidFill>
                <a:latin typeface="Aptos"/>
              </a:defRPr>
            </a:pPr>
            <a:r>
              <a:t>It averages F1 across classes, so performance on smaller or harder classes is not hidden by the overall sample mix. CV chooses the model; the held-out test set does not.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 i="0">
                <a:solidFill>
                  <a:srgbClr val="1B8A8F"/>
                </a:solidFill>
                <a:latin typeface="Aptos"/>
              </a:defRPr>
            </a:pPr>
            <a:r>
              <a:t>04  /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 i="0">
                <a:solidFill>
                  <a:srgbClr val="102F3A"/>
                </a:solidFill>
                <a:latin typeface="Aptos"/>
              </a:defRPr>
            </a:pPr>
            <a:r>
              <a:t>Random Forest led cross-validation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61872"/>
            <a:ext cx="11109960" cy="16459"/>
          </a:xfrm>
          <a:prstGeom prst="rect">
            <a:avLst/>
          </a:prstGeom>
          <a:solidFill>
            <a:srgbClr val="DC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60757D"/>
                </a:solidFill>
                <a:latin typeface="Aptos"/>
              </a:defRPr>
            </a:pPr>
            <a:r>
              <a:t>UE24CS352A  |  Machine Learning Mini-Project  |  Problem 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 i="0">
                <a:solidFill>
                  <a:srgbClr val="60757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444752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 i="0">
                <a:solidFill>
                  <a:srgbClr val="60757D"/>
                </a:solidFill>
                <a:latin typeface="Aptos"/>
              </a:defRPr>
            </a:pPr>
            <a:r>
              <a:t>Mean macro-F1 across five stratified folds; error bars show fold standard deviation.</a:t>
            </a:r>
          </a:p>
        </p:txBody>
      </p:sp>
      <p:pic>
        <p:nvPicPr>
          <p:cNvPr id="9" name="Picture 8" descr="cv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28800"/>
            <a:ext cx="7406640" cy="3886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938528"/>
            <a:ext cx="3200400" cy="3383280"/>
          </a:xfrm>
          <a:prstGeom prst="roundRect">
            <a:avLst/>
          </a:prstGeom>
          <a:solidFill>
            <a:srgbClr val="10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2267712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 i="0">
                <a:solidFill>
                  <a:srgbClr val="77DAD0"/>
                </a:solidFill>
                <a:latin typeface="Aptos"/>
              </a:defRPr>
            </a:pPr>
            <a:r>
              <a:t>SELECTED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697480"/>
            <a:ext cx="26517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300" b="1" i="0">
                <a:solidFill>
                  <a:srgbClr val="FFFFFF"/>
                </a:solidFill>
                <a:latin typeface="Aptos"/>
              </a:defRPr>
            </a:pPr>
            <a:r>
              <a:t>Random</a:t>
            </a:r>
            <a:br/>
            <a:r>
              <a:t>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867912"/>
            <a:ext cx="26517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100" b="1" i="0">
                <a:solidFill>
                  <a:srgbClr val="77DAD0"/>
                </a:solidFill>
                <a:latin typeface="Aptos"/>
              </a:defRPr>
            </a:pPr>
            <a:r>
              <a:t>0.692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498848"/>
            <a:ext cx="2651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ptos"/>
              </a:defRPr>
            </a:pPr>
            <a:r>
              <a:t>Mean CV macro-F1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4828032"/>
            <a:ext cx="2423160" cy="18288"/>
          </a:xfrm>
          <a:prstGeom prst="rect">
            <a:avLst/>
          </a:prstGeom>
          <a:solidFill>
            <a:srgbClr val="476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4937760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 i="0">
                <a:solidFill>
                  <a:srgbClr val="EBF0F0"/>
                </a:solidFill>
                <a:latin typeface="Aptos"/>
              </a:defRPr>
            </a:pPr>
            <a:r>
              <a:t>RF + interactions: 0.687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870448"/>
            <a:ext cx="10607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 i="0">
                <a:solidFill>
                  <a:srgbClr val="60757D"/>
                </a:solidFill>
                <a:latin typeface="Aptos"/>
              </a:defRPr>
            </a:pPr>
            <a:r>
              <a:t>The interaction ablation did not improve CV macro-F1 in this run; the simpler 20-feature model was selected.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 i="0">
                <a:solidFill>
                  <a:srgbClr val="1B8A8F"/>
                </a:solidFill>
                <a:latin typeface="Aptos"/>
              </a:defRPr>
            </a:pPr>
            <a:r>
              <a:t>05  / 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 i="0">
                <a:solidFill>
                  <a:srgbClr val="102F3A"/>
                </a:solidFill>
                <a:latin typeface="Aptos"/>
              </a:defRPr>
            </a:pPr>
            <a:r>
              <a:t>Held-out test performance and errors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61872"/>
            <a:ext cx="11109960" cy="16459"/>
          </a:xfrm>
          <a:prstGeom prst="rect">
            <a:avLst/>
          </a:prstGeom>
          <a:solidFill>
            <a:srgbClr val="DC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60757D"/>
                </a:solidFill>
                <a:latin typeface="Aptos"/>
              </a:defRPr>
            </a:pPr>
            <a:r>
              <a:t>UE24CS352A  |  Machine Learning Mini-Project  |  Problem 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 i="0">
                <a:solidFill>
                  <a:srgbClr val="60757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2468880" cy="1033271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64008" cy="1033271"/>
          </a:xfrm>
          <a:prstGeom prst="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618488"/>
            <a:ext cx="21945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 i="0">
                <a:solidFill>
                  <a:srgbClr val="60757D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47088"/>
            <a:ext cx="2194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 i="0">
                <a:solidFill>
                  <a:srgbClr val="102F3A"/>
                </a:solidFill>
                <a:latin typeface="Aptos"/>
              </a:defRPr>
            </a:pPr>
            <a:r>
              <a:t>70.2%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286000"/>
            <a:ext cx="2194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60757D"/>
                </a:solidFill>
                <a:latin typeface="Aptos"/>
              </a:defRPr>
            </a:pPr>
            <a:r>
              <a:t>87 of 124 correct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508760"/>
            <a:ext cx="2468880" cy="1033271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508760"/>
            <a:ext cx="64008" cy="1033271"/>
          </a:xfrm>
          <a:prstGeom prst="rect">
            <a:avLst/>
          </a:prstGeom>
          <a:solidFill>
            <a:srgbClr val="F07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1618488"/>
            <a:ext cx="21945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 i="0">
                <a:solidFill>
                  <a:srgbClr val="60757D"/>
                </a:solidFill>
                <a:latin typeface="Aptos"/>
              </a:defRPr>
            </a:pPr>
            <a:r>
              <a:t>MACRO-F1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1847088"/>
            <a:ext cx="2194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 i="0">
                <a:solidFill>
                  <a:srgbClr val="102F3A"/>
                </a:solidFill>
                <a:latin typeface="Aptos"/>
              </a:defRPr>
            </a:pPr>
            <a:r>
              <a:t>70.2%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2286000"/>
            <a:ext cx="2194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60757D"/>
                </a:solidFill>
                <a:latin typeface="Aptos"/>
              </a:defRPr>
            </a:pPr>
            <a:r>
              <a:t>Across four classes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508760"/>
            <a:ext cx="2468880" cy="1033271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1508760"/>
            <a:ext cx="64008" cy="1033271"/>
          </a:xfrm>
          <a:prstGeom prst="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1618488"/>
            <a:ext cx="21945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 i="0">
                <a:solidFill>
                  <a:srgbClr val="60757D"/>
                </a:solidFill>
                <a:latin typeface="Aptos"/>
              </a:defRPr>
            </a:pPr>
            <a:r>
              <a:t>BALANCED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1847088"/>
            <a:ext cx="2194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 i="0">
                <a:solidFill>
                  <a:srgbClr val="102F3A"/>
                </a:solidFill>
                <a:latin typeface="Aptos"/>
              </a:defRPr>
            </a:pPr>
            <a:r>
              <a:t>70.2%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2286000"/>
            <a:ext cx="2194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60757D"/>
                </a:solidFill>
                <a:latin typeface="Aptos"/>
              </a:defRPr>
            </a:pPr>
            <a:r>
              <a:t>Mean class recall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508760"/>
            <a:ext cx="2468880" cy="1033271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41080" y="1508760"/>
            <a:ext cx="64008" cy="1033271"/>
          </a:xfrm>
          <a:prstGeom prst="rect">
            <a:avLst/>
          </a:prstGeom>
          <a:solidFill>
            <a:srgbClr val="F07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05672" y="1618488"/>
            <a:ext cx="21945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 i="0">
                <a:solidFill>
                  <a:srgbClr val="60757D"/>
                </a:solidFill>
                <a:latin typeface="Aptos"/>
              </a:defRPr>
            </a:pPr>
            <a:r>
              <a:t>TEST SAMPLES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5672" y="1847088"/>
            <a:ext cx="2194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 i="0">
                <a:solidFill>
                  <a:srgbClr val="102F3A"/>
                </a:solidFill>
                <a:latin typeface="Aptos"/>
              </a:defRPr>
            </a:pPr>
            <a:r>
              <a:t>124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5672" y="2286000"/>
            <a:ext cx="2194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60757D"/>
                </a:solidFill>
                <a:latin typeface="Aptos"/>
              </a:defRPr>
            </a:pPr>
            <a:r>
              <a:t>Held out from selection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2816352"/>
            <a:ext cx="4754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 i="0">
                <a:solidFill>
                  <a:srgbClr val="1B8A8F"/>
                </a:solidFill>
                <a:latin typeface="Aptos"/>
              </a:defRPr>
            </a:pPr>
            <a:r>
              <a:t>CONFUSION MATRIX</a:t>
            </a:r>
          </a:p>
        </p:txBody>
      </p:sp>
      <p:pic>
        <p:nvPicPr>
          <p:cNvPr id="29" name="Picture 28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090672"/>
            <a:ext cx="4709160" cy="2907792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5870448" y="2880360"/>
            <a:ext cx="5440680" cy="2980944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3182112"/>
            <a:ext cx="4754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 i="0">
                <a:solidFill>
                  <a:srgbClr val="1B8A8F"/>
                </a:solidFill>
                <a:latin typeface="Aptos"/>
              </a:defRPr>
            </a:pPr>
            <a:r>
              <a:t>PER-CLASS RECALL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0488" y="3657600"/>
            <a:ext cx="6583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 i="0">
                <a:solidFill>
                  <a:srgbClr val="22363E"/>
                </a:solidFill>
                <a:latin typeface="Aptos"/>
              </a:defRPr>
            </a:pPr>
            <a:r>
              <a:t>R1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59168" y="3694176"/>
            <a:ext cx="3154680" cy="182880"/>
          </a:xfrm>
          <a:prstGeom prst="roundRect">
            <a:avLst/>
          </a:prstGeom>
          <a:solidFill>
            <a:srgbClr val="DC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59168" y="3694176"/>
            <a:ext cx="1948478" cy="182880"/>
          </a:xfrm>
          <a:prstGeom prst="roundRect">
            <a:avLst/>
          </a:prstGeom>
          <a:solidFill>
            <a:srgbClr val="F07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78440" y="363931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 i="0">
                <a:solidFill>
                  <a:srgbClr val="102F3A"/>
                </a:solidFill>
                <a:latin typeface="Aptos"/>
              </a:defRPr>
            </a:pPr>
            <a:r>
              <a:t>0.618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0488" y="4096512"/>
            <a:ext cx="6583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 i="0">
                <a:solidFill>
                  <a:srgbClr val="22363E"/>
                </a:solidFill>
                <a:latin typeface="Aptos"/>
              </a:defRPr>
            </a:pPr>
            <a:r>
              <a:t>R2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59168" y="4133088"/>
            <a:ext cx="3154680" cy="182880"/>
          </a:xfrm>
          <a:prstGeom prst="roundRect">
            <a:avLst/>
          </a:prstGeom>
          <a:solidFill>
            <a:srgbClr val="DC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059168" y="4133088"/>
            <a:ext cx="2412402" cy="182880"/>
          </a:xfrm>
          <a:prstGeom prst="round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78440" y="4078224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 i="0">
                <a:solidFill>
                  <a:srgbClr val="102F3A"/>
                </a:solidFill>
                <a:latin typeface="Aptos"/>
              </a:defRPr>
            </a:pPr>
            <a:r>
              <a:t>0.765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0488" y="4535424"/>
            <a:ext cx="6583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 i="0">
                <a:solidFill>
                  <a:srgbClr val="22363E"/>
                </a:solidFill>
                <a:latin typeface="Aptos"/>
              </a:defRPr>
            </a:pPr>
            <a:r>
              <a:t>R3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59168" y="4572000"/>
            <a:ext cx="3154680" cy="182880"/>
          </a:xfrm>
          <a:prstGeom prst="roundRect">
            <a:avLst/>
          </a:prstGeom>
          <a:solidFill>
            <a:srgbClr val="DC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059168" y="4572000"/>
            <a:ext cx="2393206" cy="182880"/>
          </a:xfrm>
          <a:prstGeom prst="round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78440" y="4517136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 i="0">
                <a:solidFill>
                  <a:srgbClr val="102F3A"/>
                </a:solidFill>
                <a:latin typeface="Aptos"/>
              </a:defRPr>
            </a:pPr>
            <a:r>
              <a:t>0.759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0488" y="4974336"/>
            <a:ext cx="6583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 i="0">
                <a:solidFill>
                  <a:srgbClr val="22363E"/>
                </a:solidFill>
                <a:latin typeface="Aptos"/>
              </a:defRPr>
            </a:pPr>
            <a:r>
              <a:t>R5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59168" y="5010912"/>
            <a:ext cx="3154680" cy="182880"/>
          </a:xfrm>
          <a:prstGeom prst="roundRect">
            <a:avLst/>
          </a:prstGeom>
          <a:solidFill>
            <a:srgbClr val="DC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059168" y="5010912"/>
            <a:ext cx="2103121" cy="182880"/>
          </a:xfrm>
          <a:prstGeom prst="round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78440" y="4956048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 i="0">
                <a:solidFill>
                  <a:srgbClr val="102F3A"/>
                </a:solidFill>
                <a:latin typeface="Aptos"/>
              </a:defRPr>
            </a:pPr>
            <a:r>
              <a:t>0.667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0488" y="5486400"/>
            <a:ext cx="4572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 i="1">
                <a:solidFill>
                  <a:srgbClr val="60757D"/>
                </a:solidFill>
                <a:latin typeface="Aptos"/>
              </a:defRPr>
            </a:pPr>
            <a:r>
              <a:t>R1 has the lowest recall in this test split.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 i="0">
                <a:solidFill>
                  <a:srgbClr val="1B8A8F"/>
                </a:solidFill>
                <a:latin typeface="Aptos"/>
              </a:defRPr>
            </a:pPr>
            <a:r>
              <a:t>06  / 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 i="0">
                <a:solidFill>
                  <a:srgbClr val="102F3A"/>
                </a:solidFill>
                <a:latin typeface="Aptos"/>
              </a:defRPr>
            </a:pPr>
            <a:r>
              <a:t>Signals, errors and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61872"/>
            <a:ext cx="11109960" cy="16459"/>
          </a:xfrm>
          <a:prstGeom prst="rect">
            <a:avLst/>
          </a:prstGeom>
          <a:solidFill>
            <a:srgbClr val="DC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60757D"/>
                </a:solidFill>
                <a:latin typeface="Aptos"/>
              </a:defRPr>
            </a:pPr>
            <a:r>
              <a:t>UE24CS352A  |  Machine Learning Mini-Project  |  Problem 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 i="0">
                <a:solidFill>
                  <a:srgbClr val="60757D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72768"/>
            <a:ext cx="5715000" cy="3429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19088" y="1600200"/>
            <a:ext cx="4983480" cy="1828800"/>
          </a:xfrm>
          <a:prstGeom prst="roundRect">
            <a:avLst/>
          </a:prstGeom>
          <a:solidFill>
            <a:srgbClr val="E1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9984" y="1883664"/>
            <a:ext cx="4297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 i="0">
                <a:solidFill>
                  <a:srgbClr val="1B8A8F"/>
                </a:solidFill>
                <a:latin typeface="Aptos"/>
              </a:defRPr>
            </a:pPr>
            <a:r>
              <a:t>TOP THREE IN THIS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331720"/>
            <a:ext cx="4206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 i="0">
                <a:solidFill>
                  <a:srgbClr val="102F3A"/>
                </a:solidFill>
                <a:latin typeface="Aptos"/>
              </a:defRPr>
            </a:pPr>
            <a:r>
              <a:t>1.  PAR_STD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642615"/>
            <a:ext cx="4206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 i="0">
                <a:solidFill>
                  <a:srgbClr val="102F3A"/>
                </a:solidFill>
                <a:latin typeface="Aptos"/>
              </a:defRPr>
            </a:pPr>
            <a:r>
              <a:t>2.  CHL_CLIM_M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953512"/>
            <a:ext cx="4206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 i="0">
                <a:solidFill>
                  <a:srgbClr val="102F3A"/>
                </a:solidFill>
                <a:latin typeface="Aptos"/>
              </a:defRPr>
            </a:pPr>
            <a:r>
              <a:t>3.  Fishing_NonComm_Boat_Total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9088" y="3675887"/>
            <a:ext cx="4983480" cy="1938528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9984" y="3968496"/>
            <a:ext cx="4297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 i="0">
                <a:solidFill>
                  <a:srgbClr val="F07861"/>
                </a:solidFill>
                <a:latin typeface="Aptos"/>
              </a:defRPr>
            </a:pPr>
            <a:r>
              <a:t>INTERPRET CAREFULLY</a:t>
            </a:r>
          </a:p>
        </p:txBody>
      </p:sp>
      <p:sp>
        <p:nvSpPr>
          <p:cNvPr id="16" name="Oval 15"/>
          <p:cNvSpPr/>
          <p:nvPr/>
        </p:nvSpPr>
        <p:spPr>
          <a:xfrm>
            <a:off x="6729984" y="4498848"/>
            <a:ext cx="82296" cy="82296"/>
          </a:xfrm>
          <a:prstGeom prst="ellipse">
            <a:avLst/>
          </a:prstGeom>
          <a:solidFill>
            <a:srgbClr val="F07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2864" y="4379976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 i="0">
                <a:solidFill>
                  <a:srgbClr val="22363E"/>
                </a:solidFill>
                <a:latin typeface="Aptos"/>
              </a:defRPr>
            </a:pPr>
            <a:r>
              <a:t>Permutation importance is predictive, not causal.</a:t>
            </a:r>
          </a:p>
        </p:txBody>
      </p:sp>
      <p:sp>
        <p:nvSpPr>
          <p:cNvPr id="18" name="Oval 17"/>
          <p:cNvSpPr/>
          <p:nvPr/>
        </p:nvSpPr>
        <p:spPr>
          <a:xfrm>
            <a:off x="6729984" y="5084064"/>
            <a:ext cx="82296" cy="82296"/>
          </a:xfrm>
          <a:prstGeom prst="ellipse">
            <a:avLst/>
          </a:prstGeom>
          <a:solidFill>
            <a:srgbClr val="F07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2864" y="4965192"/>
            <a:ext cx="406908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 i="0">
                <a:solidFill>
                  <a:srgbClr val="22363E"/>
                </a:solidFill>
                <a:latin typeface="Aptos"/>
              </a:defRPr>
            </a:pPr>
            <a:r>
              <a:t>Negative or small values are possible and should not be overinterpreted.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349240"/>
            <a:ext cx="53949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 i="0">
                <a:solidFill>
                  <a:srgbClr val="60757D"/>
                </a:solidFill>
                <a:latin typeface="Aptos"/>
              </a:defRPr>
            </a:pPr>
            <a:r>
              <a:t>Scope limits: modest sample, Hawaiian sites only, regime 4 absent in source subset, no independent geographic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 i="0">
                <a:solidFill>
                  <a:srgbClr val="1B8A8F"/>
                </a:solidFill>
                <a:latin typeface="Aptos"/>
              </a:defRPr>
            </a:pPr>
            <a:r>
              <a:t>07  /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 i="0">
                <a:solidFill>
                  <a:srgbClr val="102F3A"/>
                </a:solidFill>
                <a:latin typeface="Aptos"/>
              </a:defRPr>
            </a:pPr>
            <a:r>
              <a:t>A reproducible baseline - not a causal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61872"/>
            <a:ext cx="11109960" cy="16459"/>
          </a:xfrm>
          <a:prstGeom prst="rect">
            <a:avLst/>
          </a:prstGeom>
          <a:solidFill>
            <a:srgbClr val="DC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60757D"/>
                </a:solidFill>
                <a:latin typeface="Aptos"/>
              </a:defRPr>
            </a:pPr>
            <a:r>
              <a:t>UE24CS352A  |  Machine Learning Mini-Project  |  Problem 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 i="0">
                <a:solidFill>
                  <a:srgbClr val="60757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5166360" cy="2057400"/>
          </a:xfrm>
          <a:prstGeom prst="roundRect">
            <a:avLst/>
          </a:prstGeom>
          <a:solidFill>
            <a:srgbClr val="10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47088"/>
            <a:ext cx="4480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 i="0">
                <a:solidFill>
                  <a:srgbClr val="77DAD0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13432"/>
            <a:ext cx="438912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Aptos"/>
              </a:defRPr>
            </a:pPr>
            <a:r>
              <a:t>Random Forest achieved 0.692 mean CV macro-F1 and 0.702 held-out macro-F1.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977639"/>
            <a:ext cx="4937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 i="0">
                <a:solidFill>
                  <a:srgbClr val="1B8A8F"/>
                </a:solidFill>
                <a:latin typeface="Aptos"/>
              </a:defRPr>
            </a:pPr>
            <a:r>
              <a:t>LIVE DEMO CHECKLIST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526280"/>
            <a:ext cx="82296" cy="82296"/>
          </a:xfrm>
          <a:prstGeom prst="ellipse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07408"/>
            <a:ext cx="4480559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 i="0">
                <a:solidFill>
                  <a:srgbClr val="22363E"/>
                </a:solidFill>
                <a:latin typeface="Aptos"/>
              </a:defRPr>
            </a:pPr>
            <a:r>
              <a:t>Show data audit and split sizes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919472"/>
            <a:ext cx="82296" cy="82296"/>
          </a:xfrm>
          <a:prstGeom prst="ellipse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00600"/>
            <a:ext cx="4480559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 i="0">
                <a:solidFill>
                  <a:srgbClr val="22363E"/>
                </a:solidFill>
                <a:latin typeface="Aptos"/>
              </a:defRPr>
            </a:pPr>
            <a:r>
              <a:t>Open model_comparison_cv.csv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312664"/>
            <a:ext cx="82296" cy="82296"/>
          </a:xfrm>
          <a:prstGeom prst="ellipse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93792"/>
            <a:ext cx="4480559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 i="0">
                <a:solidFill>
                  <a:srgbClr val="22363E"/>
                </a:solidFill>
                <a:latin typeface="Aptos"/>
              </a:defRPr>
            </a:pPr>
            <a:r>
              <a:t>Explain one confusion-matrix error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705856"/>
            <a:ext cx="82296" cy="82296"/>
          </a:xfrm>
          <a:prstGeom prst="ellipse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586984"/>
            <a:ext cx="4480559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 i="0">
                <a:solidFill>
                  <a:srgbClr val="22363E"/>
                </a:solidFill>
                <a:latin typeface="Aptos"/>
              </a:defRPr>
            </a:pPr>
            <a:r>
              <a:t>Explain one limitation / no causality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1572768"/>
            <a:ext cx="5175504" cy="4114800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1865376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 i="0">
                <a:solidFill>
                  <a:srgbClr val="1B8A8F"/>
                </a:solidFill>
                <a:latin typeface="Aptos"/>
              </a:defRPr>
            </a:pPr>
            <a:r>
              <a:t>REPRODUCIBILITY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258568"/>
            <a:ext cx="44805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 i="0">
                <a:solidFill>
                  <a:srgbClr val="60757D"/>
                </a:solidFill>
                <a:latin typeface="Aptos"/>
              </a:defRPr>
            </a:pPr>
            <a:r>
              <a:t>Run from the project root: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10528" y="2788920"/>
            <a:ext cx="4526280" cy="594360"/>
          </a:xfrm>
          <a:prstGeom prst="roundRect">
            <a:avLst/>
          </a:prstGeom>
          <a:solidFill>
            <a:srgbClr val="10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935224"/>
            <a:ext cx="4160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python run_project.py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611880"/>
            <a:ext cx="44805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 i="0">
                <a:solidFill>
                  <a:srgbClr val="60757D"/>
                </a:solidFill>
                <a:latin typeface="Aptos"/>
              </a:defRPr>
            </a:pPr>
            <a:r>
              <a:t>For document-only refresh after names/results change: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0528" y="4133087"/>
            <a:ext cx="4526280" cy="594360"/>
          </a:xfrm>
          <a:prstGeom prst="roundRect">
            <a:avLst/>
          </a:prstGeom>
          <a:solidFill>
            <a:srgbClr val="10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270248"/>
            <a:ext cx="4160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python regenerate_deliverables.py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5001768"/>
            <a:ext cx="45262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 i="0">
                <a:solidFill>
                  <a:srgbClr val="22363E"/>
                </a:solidFill>
                <a:latin typeface="Aptos"/>
              </a:defRPr>
            </a:pPr>
            <a:r>
              <a:t>Outputs are saved under results/.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 i="0">
                <a:solidFill>
                  <a:srgbClr val="1B8A8F"/>
                </a:solidFill>
                <a:latin typeface="Aptos"/>
              </a:defRPr>
            </a:pPr>
            <a:r>
              <a:t>08  /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 i="0">
                <a:solidFill>
                  <a:srgbClr val="102F3A"/>
                </a:solidFill>
                <a:latin typeface="Aptos"/>
              </a:defRPr>
            </a:pPr>
            <a:r>
              <a:t>Sources and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61872"/>
            <a:ext cx="11109960" cy="16459"/>
          </a:xfrm>
          <a:prstGeom prst="rect">
            <a:avLst/>
          </a:prstGeom>
          <a:solidFill>
            <a:srgbClr val="DC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 i="0">
                <a:solidFill>
                  <a:srgbClr val="60757D"/>
                </a:solidFill>
                <a:latin typeface="Aptos"/>
              </a:defRPr>
            </a:pPr>
            <a:r>
              <a:t>UE24CS352A  |  Machine Learning Mini-Project  |  Problem 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 i="0">
                <a:solidFill>
                  <a:srgbClr val="60757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00200"/>
            <a:ext cx="10652760" cy="704088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09928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 i="0">
                <a:solidFill>
                  <a:srgbClr val="1B8A8F"/>
                </a:solidFill>
                <a:latin typeface="Aptos"/>
              </a:defRPr>
            </a:pPr>
            <a:r>
              <a:t>Primary ecological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691640"/>
            <a:ext cx="781812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 i="0">
                <a:solidFill>
                  <a:srgbClr val="22363E"/>
                </a:solidFill>
                <a:latin typeface="Aptos"/>
              </a:defRPr>
            </a:pPr>
            <a:r>
              <a:t>Jouffray et al. (2019). Parsing human and biophysical drivers of coral reef regimes. Proceedings of the Royal Society B, 286:20182544. https://doi.org/10.1098/rspb.2018.2544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514600"/>
            <a:ext cx="10652760" cy="704088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24328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 i="0">
                <a:solidFill>
                  <a:srgbClr val="1B8A8F"/>
                </a:solidFill>
                <a:latin typeface="Aptos"/>
              </a:defRPr>
            </a:pPr>
            <a:r>
              <a:t>Stanford CS229 reference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606040"/>
            <a:ext cx="781812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 i="0">
                <a:solidFill>
                  <a:srgbClr val="22363E"/>
                </a:solidFill>
                <a:latin typeface="Aptos"/>
              </a:defRPr>
            </a:pPr>
            <a:r>
              <a:t>Cheng, Murphy &amp; Walecka. Predicting Coral Reef Regimes from Human and Natural Influences. https://cs229.stanford.edu/proj2019spr/report/56.pdf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429000"/>
            <a:ext cx="10652760" cy="704088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38728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 i="0">
                <a:solidFill>
                  <a:srgbClr val="1B8A8F"/>
                </a:solidFill>
                <a:latin typeface="Aptos"/>
              </a:defRPr>
            </a:pPr>
            <a:r>
              <a:t>Reference poster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520440"/>
            <a:ext cx="781812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 i="0">
                <a:solidFill>
                  <a:srgbClr val="22363E"/>
                </a:solidFill>
                <a:latin typeface="Aptos"/>
              </a:defRPr>
            </a:pPr>
            <a:r>
              <a:t>https://cs229.stanford.edu/proj2019spr/poster/56.pdf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343400"/>
            <a:ext cx="10652760" cy="704088"/>
          </a:xfrm>
          <a:prstGeom prst="roundRect">
            <a:avLst/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53128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 i="0">
                <a:solidFill>
                  <a:srgbClr val="1B8A8F"/>
                </a:solidFill>
                <a:latin typeface="Aptos"/>
              </a:defRPr>
            </a:pPr>
            <a:r>
              <a:t>Dataset 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434840"/>
            <a:ext cx="781812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 i="0">
                <a:solidFill>
                  <a:srgbClr val="22363E"/>
                </a:solidFill>
                <a:latin typeface="Aptos"/>
              </a:defRPr>
            </a:pPr>
            <a:r>
              <a:t>https://github.com/JBjouffray/Hawaii_RegimesPredictors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486400"/>
            <a:ext cx="10652760" cy="566928"/>
          </a:xfrm>
          <a:prstGeom prst="roundRect">
            <a:avLst/>
          </a:prstGeom>
          <a:solidFill>
            <a:srgbClr val="10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614416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Questions? Be ready to explain the split, macro-F1 selection, one class error, and one limitation.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